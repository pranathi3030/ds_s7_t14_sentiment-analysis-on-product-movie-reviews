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262" r:id="rId3"/>
    <p:sldId id="707" r:id="rId4"/>
    <p:sldId id="257" r:id="rId5"/>
    <p:sldId id="903" r:id="rId6"/>
    <p:sldId id="902" r:id="rId7"/>
    <p:sldId id="258" r:id="rId8"/>
    <p:sldId id="259" r:id="rId9"/>
    <p:sldId id="260" r:id="rId10"/>
    <p:sldId id="90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33" autoAdjust="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4</a:t>
            </a:fld>
            <a:endParaRPr lang="en-US"/>
          </a:p>
        </p:txBody>
      </p:sp>
    </p:spTree>
    <p:extLst>
      <p:ext uri="{BB962C8B-B14F-4D97-AF65-F5344CB8AC3E}">
        <p14:creationId xmlns:p14="http://schemas.microsoft.com/office/powerpoint/2010/main" val="512800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17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17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17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17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17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17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17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17-09-2026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4067360117"/>
              </p:ext>
            </p:extLst>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chemeClr val="accent1">
                              <a:lumMod val="50000"/>
                            </a:schemeClr>
                          </a:solidFill>
                          <a:latin typeface="Times New Roman" panose="02020603050405020304" pitchFamily="18" charset="0"/>
                          <a:cs typeface="Times New Roman" panose="02020603050405020304" pitchFamily="18" charset="0"/>
                        </a:rPr>
                        <a:t>2420030043-P.Pranathi</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chemeClr val="accent1">
                              <a:lumMod val="50000"/>
                            </a:schemeClr>
                          </a:solidFill>
                          <a:latin typeface="Times New Roman" panose="02020603050405020304" pitchFamily="18" charset="0"/>
                          <a:cs typeface="Times New Roman" panose="02020603050405020304" pitchFamily="18" charset="0"/>
                        </a:rPr>
                        <a:t>2420030093-E.Mahathi</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chemeClr val="accent1">
                              <a:lumMod val="50000"/>
                            </a:schemeClr>
                          </a:solidFill>
                          <a:latin typeface="Times New Roman" panose="02020603050405020304" pitchFamily="18" charset="0"/>
                          <a:cs typeface="Times New Roman" panose="02020603050405020304" pitchFamily="18" charset="0"/>
                        </a:rPr>
                        <a:t>2420030773-V.Mani MahaLakshmi</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045916273"/>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Prathusha</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17-09-2026</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DS Project Review-2</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1200329"/>
          </a:xfrm>
          <a:prstGeom prst="rect">
            <a:avLst/>
          </a:prstGeom>
          <a:noFill/>
        </p:spPr>
        <p:txBody>
          <a:bodyPr wrap="square">
            <a:spAutoFit/>
          </a:bodyPr>
          <a:lstStyle/>
          <a:p>
            <a:pPr algn="ctr">
              <a:defRPr/>
            </a:pPr>
            <a:r>
              <a:rPr lang="en-IN" sz="3600" b="1" dirty="0">
                <a:solidFill>
                  <a:schemeClr val="bg1">
                    <a:lumMod val="95000"/>
                  </a:schemeClr>
                </a:solidFill>
              </a:rPr>
              <a:t>Sentiment Analysis on Product/Movie Reviews</a:t>
            </a:r>
            <a:endParaRPr lang="en-IN" sz="3600" dirty="0">
              <a:solidFill>
                <a:schemeClr val="bg1">
                  <a:lumMod val="95000"/>
                </a:schemeClr>
              </a:solidFill>
            </a:endParaRPr>
          </a:p>
          <a:p>
            <a:pPr lvl="0" algn="ctr">
              <a:defRPr/>
            </a:pP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DATA SCIENCE (24AD3107) Project Review-2</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17-09-2026</a:t>
            </a: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242E6A2E-F115-7FC8-3B12-BDF739E99DB2}"/>
              </a:ext>
            </a:extLst>
          </p:cNvPr>
          <p:cNvSpPr txBox="1"/>
          <p:nvPr/>
        </p:nvSpPr>
        <p:spPr>
          <a:xfrm>
            <a:off x="678426" y="1128561"/>
            <a:ext cx="10864645" cy="4524315"/>
          </a:xfrm>
          <a:prstGeom prst="rect">
            <a:avLst/>
          </a:prstGeom>
          <a:noFill/>
        </p:spPr>
        <p:txBody>
          <a:bodyPr wrap="square" rtlCol="0">
            <a:spAutoFit/>
          </a:bodyPr>
          <a:lstStyle/>
          <a:p>
            <a:endParaRPr lang="en-IN" dirty="0"/>
          </a:p>
          <a:p>
            <a:pPr algn="just"/>
            <a:r>
              <a:rPr lang="en-IN" dirty="0"/>
              <a:t>Online platforms contain a large number of product and movie reviews, making it difficult and time-consuming to manually analyze customer or viewer opinions. These reviews contain useful information about satisfaction, complaints, and preferences, but understanding them at a large scale is challenging. Therefore, there is a need for an automated system that can analyze review text and classify the sentiment as Positive, Negative, or Neutral using Natural Language Processing and Machine Learning techniques.</a:t>
            </a:r>
          </a:p>
          <a:p>
            <a:pPr algn="just"/>
            <a:endParaRPr lang="en-IN" dirty="0"/>
          </a:p>
          <a:p>
            <a:pPr algn="just"/>
            <a:r>
              <a:rPr lang="en-IN" dirty="0"/>
              <a:t>The main problem is to automatically understand the opinion expressed in a review and determine whether it is Positive, Negative, or Neutral. Since reviews are written in natural language, computers cannot directly understand them. Therefore, Natural Language Processing techniques are required to clean and process the text and convert it into useful numerical features.</a:t>
            </a:r>
          </a:p>
          <a:p>
            <a:pPr algn="just"/>
            <a:endParaRPr lang="en-IN" dirty="0"/>
          </a:p>
          <a:p>
            <a:pPr algn="just"/>
            <a:r>
              <a:rPr lang="en-IN" dirty="0"/>
              <a:t>This project aims to develop a Sentiment Analysis system that uses NLP techniques such as text preprocessing, tokenization, and TF-IDF feature extraction along with Machine Learning algorithms such as Naïve Bayes and Logistic Regression to classify product or movie reviews into different sentiment categories. The performance of the models is evaluated using Accuracy, Precision, Recall, and F1-Score.</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3"/>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2E197740-C94E-C9DF-5339-66B5CF1B1E5A}"/>
              </a:ext>
            </a:extLst>
          </p:cNvPr>
          <p:cNvSpPr txBox="1"/>
          <p:nvPr/>
        </p:nvSpPr>
        <p:spPr>
          <a:xfrm>
            <a:off x="439838" y="902825"/>
            <a:ext cx="10975414" cy="6186309"/>
          </a:xfrm>
          <a:prstGeom prst="rect">
            <a:avLst/>
          </a:prstGeom>
          <a:noFill/>
        </p:spPr>
        <p:txBody>
          <a:bodyPr wrap="square" rtlCol="0">
            <a:spAutoFit/>
          </a:bodyPr>
          <a:lstStyle/>
          <a:p>
            <a:pPr marL="342900" lvl="0" indent="-342900">
              <a:buFont typeface="+mj-lt"/>
              <a:buAutoNum type="arabicPeriod"/>
            </a:pPr>
            <a:r>
              <a:rPr lang="en-IN" b="1" dirty="0"/>
              <a:t>Collect review data</a:t>
            </a:r>
            <a:br>
              <a:rPr lang="en-IN" dirty="0"/>
            </a:br>
            <a:r>
              <a:rPr lang="en-IN" dirty="0"/>
              <a:t>Gather product or movie reviews from suitable datasets. </a:t>
            </a:r>
          </a:p>
          <a:p>
            <a:pPr marL="342900" lvl="0" indent="-342900">
              <a:buFont typeface="+mj-lt"/>
              <a:buAutoNum type="arabicPeriod"/>
            </a:pPr>
            <a:r>
              <a:rPr lang="en-IN" b="1" dirty="0"/>
              <a:t>Preprocess the review text</a:t>
            </a:r>
            <a:br>
              <a:rPr lang="en-IN" dirty="0"/>
            </a:br>
            <a:r>
              <a:rPr lang="en-IN" dirty="0"/>
              <a:t>Clean the data by removing punctuation, special characters, unnecessary words, and converting text into lowercase. </a:t>
            </a:r>
          </a:p>
          <a:p>
            <a:pPr marL="342900" lvl="0" indent="-342900">
              <a:buFont typeface="+mj-lt"/>
              <a:buAutoNum type="arabicPeriod"/>
            </a:pPr>
            <a:r>
              <a:rPr lang="en-IN" b="1" dirty="0"/>
              <a:t>Perform text processing</a:t>
            </a:r>
            <a:br>
              <a:rPr lang="en-IN" dirty="0"/>
            </a:br>
            <a:r>
              <a:rPr lang="en-IN" dirty="0"/>
              <a:t>Tokenize the reviews and prepare the text for machine learning. </a:t>
            </a:r>
          </a:p>
          <a:p>
            <a:pPr marL="342900" lvl="0" indent="-342900">
              <a:buFont typeface="+mj-lt"/>
              <a:buAutoNum type="arabicPeriod"/>
            </a:pPr>
            <a:r>
              <a:rPr lang="en-IN" b="1" dirty="0"/>
              <a:t>Build machine learning models</a:t>
            </a:r>
            <a:br>
              <a:rPr lang="en-IN" dirty="0"/>
            </a:br>
            <a:r>
              <a:rPr lang="en-IN" dirty="0"/>
              <a:t>Train classification models such as: </a:t>
            </a:r>
          </a:p>
          <a:p>
            <a:pPr lvl="1"/>
            <a:r>
              <a:rPr lang="en-IN" dirty="0"/>
              <a:t>Naïve Bayes </a:t>
            </a:r>
          </a:p>
          <a:p>
            <a:pPr lvl="1"/>
            <a:r>
              <a:rPr lang="en-IN" dirty="0"/>
              <a:t>Logistic Regression</a:t>
            </a:r>
          </a:p>
          <a:p>
            <a:pPr marL="342900" lvl="0" indent="-342900">
              <a:buFont typeface="+mj-lt"/>
              <a:buAutoNum type="arabicPeriod"/>
            </a:pPr>
            <a:r>
              <a:rPr lang="en-IN" b="1" dirty="0"/>
              <a:t>Classify sentiments</a:t>
            </a:r>
            <a:br>
              <a:rPr lang="en-IN" dirty="0"/>
            </a:br>
            <a:r>
              <a:rPr lang="en-IN" dirty="0"/>
              <a:t>Predict each review as: </a:t>
            </a:r>
          </a:p>
          <a:p>
            <a:pPr lvl="1"/>
            <a:r>
              <a:rPr lang="en-IN" dirty="0"/>
              <a:t>Positive </a:t>
            </a:r>
          </a:p>
          <a:p>
            <a:pPr lvl="1"/>
            <a:r>
              <a:rPr lang="en-IN" dirty="0"/>
              <a:t>Negative </a:t>
            </a:r>
          </a:p>
          <a:p>
            <a:pPr lvl="1"/>
            <a:r>
              <a:rPr lang="en-IN" dirty="0"/>
              <a:t>Neutral </a:t>
            </a:r>
          </a:p>
          <a:p>
            <a:pPr marL="342900" lvl="0" indent="-342900">
              <a:buFont typeface="+mj-lt"/>
              <a:buAutoNum type="arabicPeriod"/>
            </a:pPr>
            <a:r>
              <a:rPr lang="en-IN" b="1" dirty="0"/>
              <a:t>Evaluate model performance</a:t>
            </a:r>
            <a:br>
              <a:rPr lang="en-IN" dirty="0"/>
            </a:br>
            <a:r>
              <a:rPr lang="en-IN" dirty="0"/>
              <a:t>Compare the models using: </a:t>
            </a:r>
          </a:p>
          <a:p>
            <a:pPr lvl="1"/>
            <a:r>
              <a:rPr lang="en-IN" dirty="0"/>
              <a:t>Accuracy </a:t>
            </a:r>
          </a:p>
          <a:p>
            <a:pPr lvl="1"/>
            <a:r>
              <a:rPr lang="en-IN" dirty="0"/>
              <a:t>Precision </a:t>
            </a:r>
          </a:p>
          <a:p>
            <a:pPr lvl="1"/>
            <a:r>
              <a:rPr lang="en-IN" dirty="0"/>
              <a:t>Recall ,F1-Score</a:t>
            </a:r>
          </a:p>
          <a:p>
            <a:endParaRPr lang="en-IN" dirty="0"/>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984503560"/>
              </p:ext>
            </p:extLst>
          </p:nvPr>
        </p:nvGraphicFramePr>
        <p:xfrm>
          <a:off x="294968" y="689466"/>
          <a:ext cx="11717083" cy="5142797"/>
        </p:xfrm>
        <a:graphic>
          <a:graphicData uri="http://schemas.openxmlformats.org/drawingml/2006/table">
            <a:tbl>
              <a:tblPr firstRow="1" bandRow="1">
                <a:tableStyleId>{BC89EF96-8CEA-46FF-86C4-4CE0E7609802}</a:tableStyleId>
              </a:tblPr>
              <a:tblGrid>
                <a:gridCol w="1163384">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dirty="0">
                          <a:solidFill>
                            <a:srgbClr val="FF0000"/>
                          </a:solidFill>
                        </a:rPr>
                        <a:t>Pang et al.</a:t>
                      </a:r>
                    </a:p>
                    <a:p>
                      <a:pPr marL="0" algn="l" defTabSz="914400" rtl="0" eaLnBrk="1" latinLnBrk="0" hangingPunct="1"/>
                      <a:r>
                        <a:rPr lang="en-IN" sz="1400" b="0" dirty="0">
                          <a:solidFill>
                            <a:srgbClr val="FF0000"/>
                          </a:solidFill>
                        </a:rPr>
                        <a:t>2002 </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solidFill>
                            <a:srgbClr val="FF0000"/>
                          </a:solidFill>
                        </a:rPr>
                        <a:t>Sentiment Classification using Machine Learning Techniques</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Machine learning for movie review sentiment classification </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Naïve Bayes, Maximum Entropy and SVM </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 Text-based feature extraction</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Demonstrated that machine learning can classify movie reviews based on sentiment. </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 Showed that different ML algorithms produce different classification performance.</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solidFill>
                            <a:srgbClr val="FF0000"/>
                          </a:solidFill>
                        </a:rPr>
                        <a:t>Focused mainly on binary sentiment classification. </a:t>
                      </a:r>
                    </a:p>
                    <a:p>
                      <a:pPr marL="285750" indent="-285750" algn="l" defTabSz="914400" rtl="0" eaLnBrk="1" latinLnBrk="0" hangingPunct="1">
                        <a:buFont typeface="Arial" panose="020B0604020202020204" pitchFamily="34" charset="0"/>
                        <a:buChar char="•"/>
                      </a:pPr>
                      <a:r>
                        <a:rPr lang="en-IN" sz="1400" dirty="0">
                          <a:solidFill>
                            <a:srgbClr val="FF0000"/>
                          </a:solidFill>
                        </a:rPr>
                        <a:t> More advanced NLP methods can be explored for contextual and neutral sentiment.</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solidFill>
                            <a:srgbClr val="FF0000"/>
                          </a:solidFill>
                        </a:rPr>
                        <a:t>Devika et al.</a:t>
                      </a:r>
                    </a:p>
                    <a:p>
                      <a:pPr marL="0" algn="l" defTabSz="914400" rtl="0" eaLnBrk="1" latinLnBrk="0" hangingPunct="1"/>
                      <a:r>
                        <a:rPr lang="en-IN" sz="1400" dirty="0">
                          <a:solidFill>
                            <a:srgbClr val="FF0000"/>
                          </a:solidFill>
                        </a:rPr>
                        <a:t>2016</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solidFill>
                            <a:srgbClr val="FF0000"/>
                          </a:solidFill>
                        </a:rPr>
                        <a:t>Sentiment Analysis: A Comparative Study on Different Approaches</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NLP-based sentiment analysis</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 Text preprocessing </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 Machine learning and lexicon-based approaches </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 Feature extraction</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 Shows that preprocessing and feature selection have an important effect on sentiment classification. </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Different approaches have different strengths and weaknesses.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solidFill>
                            <a:srgbClr val="FF0000"/>
                          </a:solidFill>
                        </a:rPr>
                        <a:t>Traditional approaches may have difficulty understanding complex language, sarcasm, and contextual meaning. </a:t>
                      </a:r>
                    </a:p>
                    <a:p>
                      <a:pPr marL="285750" indent="-285750" algn="l" defTabSz="914400" rtl="0" eaLnBrk="1" latinLnBrk="0" hangingPunct="1">
                        <a:buFont typeface="Arial" panose="020B0604020202020204" pitchFamily="34" charset="0"/>
                        <a:buChar char="•"/>
                      </a:pPr>
                      <a:r>
                        <a:rPr lang="en-IN" sz="1400" dirty="0">
                          <a:solidFill>
                            <a:srgbClr val="FF0000"/>
                          </a:solidFill>
                        </a:rPr>
                        <a:t> Future work can explore deep learning and advanced NLP models.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solidFill>
                            <a:srgbClr val="FF0000"/>
                          </a:solidFill>
                        </a:rPr>
                        <a:t>Jim et al.</a:t>
                      </a:r>
                    </a:p>
                    <a:p>
                      <a:pPr marL="0" algn="l" defTabSz="914400" rtl="0" eaLnBrk="1" latinLnBrk="0" hangingPunct="1"/>
                      <a:r>
                        <a:rPr lang="en-IN" sz="1400" b="0" dirty="0">
                          <a:solidFill>
                            <a:srgbClr val="FF0000"/>
                          </a:solidFill>
                        </a:rPr>
                        <a:t>2024 </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solidFill>
                            <a:srgbClr val="FF0000"/>
                          </a:solidFill>
                        </a:rPr>
                        <a:t>Recent Advancements and Challenges of NLP-Based Sentiment Analysis: A State-of-the-Art Review</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Review of NLP sentiment-analysis techniques</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 Machine Learning and Deep Learning </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Preprocessing and feature extraction</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  Evaluation metrics</a:t>
                      </a:r>
                      <a:endParaRPr lang="en-US" sz="1400" b="0" u="none" kern="1200" dirty="0">
                        <a:solidFill>
                          <a:srgbClr val="FF0000"/>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Sentiment analysis is widely used for extracting positive, negative, and neutral opinions.</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Reviews common datasets, preprocessing methods, ML/DL models, and evaluation metrics.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solidFill>
                            <a:srgbClr val="FF0000"/>
                          </a:solidFill>
                        </a:rPr>
                        <a:t>Challenges remain in handling sarcasm, context, multilingual text, and complex sentiment.</a:t>
                      </a:r>
                    </a:p>
                    <a:p>
                      <a:pPr marL="285750" indent="-285750" algn="l" defTabSz="914400" rtl="0" eaLnBrk="1" latinLnBrk="0" hangingPunct="1">
                        <a:buFont typeface="Arial" panose="020B0604020202020204" pitchFamily="34" charset="0"/>
                        <a:buChar char="•"/>
                      </a:pPr>
                      <a:r>
                        <a:rPr lang="en-IN" sz="1400" dirty="0">
                          <a:solidFill>
                            <a:srgbClr val="FF0000"/>
                          </a:solidFill>
                        </a:rPr>
                        <a:t>  Future research can explore LLMs, pre-trained models, and more advanced contextual approaches.</a:t>
                      </a:r>
                      <a:endParaRPr lang="en-US"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r>
              <a:rPr lang="en-IN" dirty="0"/>
              <a:t>17-09-2026</a:t>
            </a:r>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4" name="Table 3">
            <a:extLst>
              <a:ext uri="{FF2B5EF4-FFF2-40B4-BE49-F238E27FC236}">
                <a16:creationId xmlns:a16="http://schemas.microsoft.com/office/drawing/2014/main" id="{0CB4621C-D907-5973-8639-1C9AEF76BD3B}"/>
              </a:ext>
            </a:extLst>
          </p:cNvPr>
          <p:cNvGraphicFramePr>
            <a:graphicFrameLocks noGrp="1"/>
          </p:cNvGraphicFramePr>
          <p:nvPr>
            <p:extLst>
              <p:ext uri="{D42A27DB-BD31-4B8C-83A1-F6EECF244321}">
                <p14:modId xmlns:p14="http://schemas.microsoft.com/office/powerpoint/2010/main" val="2031671460"/>
              </p:ext>
            </p:extLst>
          </p:nvPr>
        </p:nvGraphicFramePr>
        <p:xfrm>
          <a:off x="462116" y="1246409"/>
          <a:ext cx="11266896" cy="5385883"/>
        </p:xfrm>
        <a:graphic>
          <a:graphicData uri="http://schemas.openxmlformats.org/drawingml/2006/table">
            <a:tbl>
              <a:tblPr>
                <a:tableStyleId>{5C22544A-7EE6-4342-B048-85BDC9FD1C3A}</a:tableStyleId>
              </a:tblPr>
              <a:tblGrid>
                <a:gridCol w="3755632">
                  <a:extLst>
                    <a:ext uri="{9D8B030D-6E8A-4147-A177-3AD203B41FA5}">
                      <a16:colId xmlns:a16="http://schemas.microsoft.com/office/drawing/2014/main" val="286035665"/>
                    </a:ext>
                  </a:extLst>
                </a:gridCol>
                <a:gridCol w="3755632">
                  <a:extLst>
                    <a:ext uri="{9D8B030D-6E8A-4147-A177-3AD203B41FA5}">
                      <a16:colId xmlns:a16="http://schemas.microsoft.com/office/drawing/2014/main" val="288968635"/>
                    </a:ext>
                  </a:extLst>
                </a:gridCol>
                <a:gridCol w="3755632">
                  <a:extLst>
                    <a:ext uri="{9D8B030D-6E8A-4147-A177-3AD203B41FA5}">
                      <a16:colId xmlns:a16="http://schemas.microsoft.com/office/drawing/2014/main" val="2943550957"/>
                    </a:ext>
                  </a:extLst>
                </a:gridCol>
              </a:tblGrid>
              <a:tr h="406482">
                <a:tc>
                  <a:txBody>
                    <a:bodyPr/>
                    <a:lstStyle/>
                    <a:p>
                      <a:pPr>
                        <a:buNone/>
                      </a:pPr>
                      <a:r>
                        <a:rPr lang="en-IN" sz="1600"/>
                        <a:t>Existing Approach</a:t>
                      </a:r>
                    </a:p>
                  </a:txBody>
                  <a:tcPr marL="82101" marR="82101" marT="41050" marB="41050" anchor="ctr"/>
                </a:tc>
                <a:tc>
                  <a:txBody>
                    <a:bodyPr/>
                    <a:lstStyle/>
                    <a:p>
                      <a:pPr>
                        <a:buNone/>
                      </a:pPr>
                      <a:r>
                        <a:rPr lang="en-IN" sz="1600"/>
                        <a:t>Problem / Gap</a:t>
                      </a:r>
                    </a:p>
                  </a:txBody>
                  <a:tcPr marL="82101" marR="82101" marT="41050" marB="41050" anchor="ctr"/>
                </a:tc>
                <a:tc>
                  <a:txBody>
                    <a:bodyPr/>
                    <a:lstStyle/>
                    <a:p>
                      <a:pPr>
                        <a:buNone/>
                      </a:pPr>
                      <a:r>
                        <a:rPr lang="en-IN" sz="1600"/>
                        <a:t>Our Project</a:t>
                      </a:r>
                    </a:p>
                  </a:txBody>
                  <a:tcPr marL="82101" marR="82101" marT="41050" marB="41050" anchor="ctr"/>
                </a:tc>
                <a:extLst>
                  <a:ext uri="{0D108BD9-81ED-4DB2-BD59-A6C34878D82A}">
                    <a16:rowId xmlns:a16="http://schemas.microsoft.com/office/drawing/2014/main" val="1658508644"/>
                  </a:ext>
                </a:extLst>
              </a:tr>
              <a:tr h="711343">
                <a:tc>
                  <a:txBody>
                    <a:bodyPr/>
                    <a:lstStyle/>
                    <a:p>
                      <a:pPr>
                        <a:buNone/>
                      </a:pPr>
                      <a:r>
                        <a:rPr lang="en-IN" sz="1600"/>
                        <a:t>Manual review analysis</a:t>
                      </a:r>
                    </a:p>
                  </a:txBody>
                  <a:tcPr marL="82101" marR="82101" marT="41050" marB="41050" anchor="ctr"/>
                </a:tc>
                <a:tc>
                  <a:txBody>
                    <a:bodyPr/>
                    <a:lstStyle/>
                    <a:p>
                      <a:pPr>
                        <a:buNone/>
                      </a:pPr>
                      <a:r>
                        <a:rPr lang="en-IN" sz="1600"/>
                        <a:t>Time-consuming and difficult for large datasets</a:t>
                      </a:r>
                    </a:p>
                  </a:txBody>
                  <a:tcPr marL="82101" marR="82101" marT="41050" marB="41050" anchor="ctr"/>
                </a:tc>
                <a:tc>
                  <a:txBody>
                    <a:bodyPr/>
                    <a:lstStyle/>
                    <a:p>
                      <a:pPr>
                        <a:buNone/>
                      </a:pPr>
                      <a:r>
                        <a:rPr lang="en-IN" sz="1600"/>
                        <a:t>Automates sentiment analysis</a:t>
                      </a:r>
                    </a:p>
                  </a:txBody>
                  <a:tcPr marL="82101" marR="82101" marT="41050" marB="41050" anchor="ctr"/>
                </a:tc>
                <a:extLst>
                  <a:ext uri="{0D108BD9-81ED-4DB2-BD59-A6C34878D82A}">
                    <a16:rowId xmlns:a16="http://schemas.microsoft.com/office/drawing/2014/main" val="3104160665"/>
                  </a:ext>
                </a:extLst>
              </a:tr>
              <a:tr h="711343">
                <a:tc>
                  <a:txBody>
                    <a:bodyPr/>
                    <a:lstStyle/>
                    <a:p>
                      <a:pPr>
                        <a:buNone/>
                      </a:pPr>
                      <a:r>
                        <a:rPr lang="en-IN" sz="1600"/>
                        <a:t>Star/rating-based analysis</a:t>
                      </a:r>
                    </a:p>
                  </a:txBody>
                  <a:tcPr marL="82101" marR="82101" marT="41050" marB="41050" anchor="ctr"/>
                </a:tc>
                <a:tc>
                  <a:txBody>
                    <a:bodyPr/>
                    <a:lstStyle/>
                    <a:p>
                      <a:pPr>
                        <a:buNone/>
                      </a:pPr>
                      <a:r>
                        <a:rPr lang="en-IN" sz="1600"/>
                        <a:t>Does not fully understand review text</a:t>
                      </a:r>
                    </a:p>
                  </a:txBody>
                  <a:tcPr marL="82101" marR="82101" marT="41050" marB="41050" anchor="ctr"/>
                </a:tc>
                <a:tc>
                  <a:txBody>
                    <a:bodyPr/>
                    <a:lstStyle/>
                    <a:p>
                      <a:pPr>
                        <a:buNone/>
                      </a:pPr>
                      <a:r>
                        <a:rPr lang="en-IN" sz="1600"/>
                        <a:t>Analyzes actual text</a:t>
                      </a:r>
                    </a:p>
                  </a:txBody>
                  <a:tcPr marL="82101" marR="82101" marT="41050" marB="41050" anchor="ctr"/>
                </a:tc>
                <a:extLst>
                  <a:ext uri="{0D108BD9-81ED-4DB2-BD59-A6C34878D82A}">
                    <a16:rowId xmlns:a16="http://schemas.microsoft.com/office/drawing/2014/main" val="4056165366"/>
                  </a:ext>
                </a:extLst>
              </a:tr>
              <a:tr h="711343">
                <a:tc>
                  <a:txBody>
                    <a:bodyPr/>
                    <a:lstStyle/>
                    <a:p>
                      <a:pPr>
                        <a:buNone/>
                      </a:pPr>
                      <a:r>
                        <a:rPr lang="en-IN" sz="1600"/>
                        <a:t>Raw text processing</a:t>
                      </a:r>
                    </a:p>
                  </a:txBody>
                  <a:tcPr marL="82101" marR="82101" marT="41050" marB="41050" anchor="ctr"/>
                </a:tc>
                <a:tc>
                  <a:txBody>
                    <a:bodyPr/>
                    <a:lstStyle/>
                    <a:p>
                      <a:pPr>
                        <a:buNone/>
                      </a:pPr>
                      <a:r>
                        <a:rPr lang="en-IN" sz="1600"/>
                        <a:t>Machine learning models cannot directly process text</a:t>
                      </a:r>
                    </a:p>
                  </a:txBody>
                  <a:tcPr marL="82101" marR="82101" marT="41050" marB="41050" anchor="ctr"/>
                </a:tc>
                <a:tc>
                  <a:txBody>
                    <a:bodyPr/>
                    <a:lstStyle/>
                    <a:p>
                      <a:pPr>
                        <a:buNone/>
                      </a:pPr>
                      <a:r>
                        <a:rPr lang="en-IN" sz="1600"/>
                        <a:t>Uses NLP preprocessing</a:t>
                      </a:r>
                    </a:p>
                  </a:txBody>
                  <a:tcPr marL="82101" marR="82101" marT="41050" marB="41050" anchor="ctr"/>
                </a:tc>
                <a:extLst>
                  <a:ext uri="{0D108BD9-81ED-4DB2-BD59-A6C34878D82A}">
                    <a16:rowId xmlns:a16="http://schemas.microsoft.com/office/drawing/2014/main" val="740391984"/>
                  </a:ext>
                </a:extLst>
              </a:tr>
              <a:tr h="711343">
                <a:tc>
                  <a:txBody>
                    <a:bodyPr/>
                    <a:lstStyle/>
                    <a:p>
                      <a:pPr>
                        <a:buNone/>
                      </a:pPr>
                      <a:r>
                        <a:rPr lang="en-IN" sz="1600"/>
                        <a:t>Text represented as words</a:t>
                      </a:r>
                    </a:p>
                  </a:txBody>
                  <a:tcPr marL="82101" marR="82101" marT="41050" marB="41050" anchor="ctr"/>
                </a:tc>
                <a:tc>
                  <a:txBody>
                    <a:bodyPr/>
                    <a:lstStyle/>
                    <a:p>
                      <a:pPr>
                        <a:buNone/>
                      </a:pPr>
                      <a:r>
                        <a:rPr lang="en-IN" sz="1600"/>
                        <a:t>Difficult for ML models to use directly</a:t>
                      </a:r>
                    </a:p>
                  </a:txBody>
                  <a:tcPr marL="82101" marR="82101" marT="41050" marB="41050" anchor="ctr"/>
                </a:tc>
                <a:tc>
                  <a:txBody>
                    <a:bodyPr/>
                    <a:lstStyle/>
                    <a:p>
                      <a:pPr>
                        <a:buNone/>
                      </a:pPr>
                      <a:r>
                        <a:rPr lang="en-IN" sz="1600"/>
                        <a:t>Uses TF-IDF features</a:t>
                      </a:r>
                    </a:p>
                  </a:txBody>
                  <a:tcPr marL="82101" marR="82101" marT="41050" marB="41050" anchor="ctr"/>
                </a:tc>
                <a:extLst>
                  <a:ext uri="{0D108BD9-81ED-4DB2-BD59-A6C34878D82A}">
                    <a16:rowId xmlns:a16="http://schemas.microsoft.com/office/drawing/2014/main" val="3923909828"/>
                  </a:ext>
                </a:extLst>
              </a:tr>
              <a:tr h="711343">
                <a:tc>
                  <a:txBody>
                    <a:bodyPr/>
                    <a:lstStyle/>
                    <a:p>
                      <a:pPr>
                        <a:buNone/>
                      </a:pPr>
                      <a:r>
                        <a:rPr lang="en-IN" sz="1600"/>
                        <a:t>Single ML model</a:t>
                      </a:r>
                    </a:p>
                  </a:txBody>
                  <a:tcPr marL="82101" marR="82101" marT="41050" marB="41050" anchor="ctr"/>
                </a:tc>
                <a:tc>
                  <a:txBody>
                    <a:bodyPr/>
                    <a:lstStyle/>
                    <a:p>
                      <a:pPr>
                        <a:buNone/>
                      </a:pPr>
                      <a:r>
                        <a:rPr lang="en-IN" sz="1600"/>
                        <a:t>Performance may vary depending on data</a:t>
                      </a:r>
                    </a:p>
                  </a:txBody>
                  <a:tcPr marL="82101" marR="82101" marT="41050" marB="41050" anchor="ctr"/>
                </a:tc>
                <a:tc>
                  <a:txBody>
                    <a:bodyPr/>
                    <a:lstStyle/>
                    <a:p>
                      <a:pPr>
                        <a:buNone/>
                      </a:pPr>
                      <a:r>
                        <a:rPr lang="en-IN" sz="1600"/>
                        <a:t>Compares Naïve Bayes and Logistic Regression</a:t>
                      </a:r>
                    </a:p>
                  </a:txBody>
                  <a:tcPr marL="82101" marR="82101" marT="41050" marB="41050" anchor="ctr"/>
                </a:tc>
                <a:extLst>
                  <a:ext uri="{0D108BD9-81ED-4DB2-BD59-A6C34878D82A}">
                    <a16:rowId xmlns:a16="http://schemas.microsoft.com/office/drawing/2014/main" val="1550226346"/>
                  </a:ext>
                </a:extLst>
              </a:tr>
              <a:tr h="711343">
                <a:tc>
                  <a:txBody>
                    <a:bodyPr/>
                    <a:lstStyle/>
                    <a:p>
                      <a:pPr>
                        <a:buNone/>
                      </a:pPr>
                      <a:r>
                        <a:rPr lang="en-IN" sz="1600"/>
                        <a:t>Basic accuracy measurement</a:t>
                      </a:r>
                    </a:p>
                  </a:txBody>
                  <a:tcPr marL="82101" marR="82101" marT="41050" marB="41050" anchor="ctr"/>
                </a:tc>
                <a:tc>
                  <a:txBody>
                    <a:bodyPr/>
                    <a:lstStyle/>
                    <a:p>
                      <a:pPr>
                        <a:buNone/>
                      </a:pPr>
                      <a:r>
                        <a:rPr lang="en-IN" sz="1600"/>
                        <a:t>Accuracy alone may not show complete performance</a:t>
                      </a:r>
                    </a:p>
                  </a:txBody>
                  <a:tcPr marL="82101" marR="82101" marT="41050" marB="41050" anchor="ctr"/>
                </a:tc>
                <a:tc>
                  <a:txBody>
                    <a:bodyPr/>
                    <a:lstStyle/>
                    <a:p>
                      <a:pPr>
                        <a:buNone/>
                      </a:pPr>
                      <a:r>
                        <a:rPr lang="en-IN" sz="1600"/>
                        <a:t>Uses Accuracy, Precision, Recall, and F1-Score</a:t>
                      </a:r>
                    </a:p>
                  </a:txBody>
                  <a:tcPr marL="82101" marR="82101" marT="41050" marB="41050" anchor="ctr"/>
                </a:tc>
                <a:extLst>
                  <a:ext uri="{0D108BD9-81ED-4DB2-BD59-A6C34878D82A}">
                    <a16:rowId xmlns:a16="http://schemas.microsoft.com/office/drawing/2014/main" val="202737080"/>
                  </a:ext>
                </a:extLst>
              </a:tr>
              <a:tr h="711343">
                <a:tc>
                  <a:txBody>
                    <a:bodyPr/>
                    <a:lstStyle/>
                    <a:p>
                      <a:pPr>
                        <a:buNone/>
                      </a:pPr>
                      <a:r>
                        <a:rPr lang="en-IN" sz="1600"/>
                        <a:t>Large number of reviews</a:t>
                      </a:r>
                    </a:p>
                  </a:txBody>
                  <a:tcPr marL="82101" marR="82101" marT="41050" marB="41050" anchor="ctr"/>
                </a:tc>
                <a:tc>
                  <a:txBody>
                    <a:bodyPr/>
                    <a:lstStyle/>
                    <a:p>
                      <a:pPr>
                        <a:buNone/>
                      </a:pPr>
                      <a:r>
                        <a:rPr lang="en-IN" sz="1600"/>
                        <a:t>Difficult to identify overall customer opinion quickly</a:t>
                      </a:r>
                    </a:p>
                  </a:txBody>
                  <a:tcPr marL="82101" marR="82101" marT="41050" marB="41050" anchor="ctr"/>
                </a:tc>
                <a:tc>
                  <a:txBody>
                    <a:bodyPr/>
                    <a:lstStyle/>
                    <a:p>
                      <a:pPr>
                        <a:buNone/>
                      </a:pPr>
                      <a:r>
                        <a:rPr lang="en-IN" sz="1600" dirty="0"/>
                        <a:t>Provides automated sentiment classification</a:t>
                      </a:r>
                    </a:p>
                  </a:txBody>
                  <a:tcPr marL="82101" marR="82101" marT="41050" marB="41050" anchor="ctr"/>
                </a:tc>
                <a:extLst>
                  <a:ext uri="{0D108BD9-81ED-4DB2-BD59-A6C34878D82A}">
                    <a16:rowId xmlns:a16="http://schemas.microsoft.com/office/drawing/2014/main" val="2144122818"/>
                  </a:ext>
                </a:extLst>
              </a:tr>
            </a:tbl>
          </a:graphicData>
        </a:graphic>
      </p:graphicFrame>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175429" y="311275"/>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6A1F011C-D063-8238-EABB-A59DFAEE1BD8}"/>
              </a:ext>
            </a:extLst>
          </p:cNvPr>
          <p:cNvSpPr txBox="1"/>
          <p:nvPr/>
        </p:nvSpPr>
        <p:spPr>
          <a:xfrm>
            <a:off x="353962" y="1088020"/>
            <a:ext cx="11434916" cy="5078313"/>
          </a:xfrm>
          <a:prstGeom prst="rect">
            <a:avLst/>
          </a:prstGeom>
          <a:noFill/>
        </p:spPr>
        <p:txBody>
          <a:bodyPr wrap="square" rtlCol="0">
            <a:spAutoFit/>
          </a:bodyPr>
          <a:lstStyle/>
          <a:p>
            <a:endParaRPr lang="en-US" b="1" dirty="0"/>
          </a:p>
          <a:p>
            <a:r>
              <a:rPr lang="en-US" b="1" dirty="0"/>
              <a:t>Innovation</a:t>
            </a:r>
            <a:endParaRPr lang="en-IN" dirty="0"/>
          </a:p>
          <a:p>
            <a:r>
              <a:rPr lang="en-IN" dirty="0"/>
              <a:t>The innovation of our project is the combination of Natural Language Processing and Machine Learning for automated review analysis. The system uses NLP to process review text, TF-IDF to extract important features, and machine learning algorithms to classify the sentiment. It also compares different models to understand their performance.</a:t>
            </a:r>
          </a:p>
          <a:p>
            <a:endParaRPr lang="en-IN" dirty="0"/>
          </a:p>
          <a:p>
            <a:pPr lvl="0"/>
            <a:r>
              <a:rPr lang="en-US" b="1" dirty="0"/>
              <a:t>Creativity</a:t>
            </a:r>
            <a:endParaRPr lang="en-IN" dirty="0"/>
          </a:p>
          <a:p>
            <a:pPr lvl="0"/>
            <a:r>
              <a:rPr lang="en-IN" dirty="0"/>
              <a:t>The creative aspect of the project is providing a simple and user-friendly way to analyze reviews. A user can enter a product or movie review, and the system can predict whether the review is Positive, Negative, or Neutral. The results can also be represented using graphs and visualizations to make the sentiment information easier to understand.</a:t>
            </a:r>
          </a:p>
          <a:p>
            <a:pPr lvl="0"/>
            <a:endParaRPr lang="en-IN" dirty="0"/>
          </a:p>
          <a:p>
            <a:pPr lvl="0"/>
            <a:r>
              <a:rPr lang="en-US" b="1" dirty="0"/>
              <a:t>Novelty</a:t>
            </a:r>
            <a:endParaRPr lang="en-IN" dirty="0"/>
          </a:p>
          <a:p>
            <a:pPr lvl="0"/>
            <a:r>
              <a:rPr lang="en-IN" dirty="0"/>
              <a:t>The novelty of the project is the integration of text preprocessing, TF-IDF feature extraction, Naïve Bayes, Logistic Regression, sentiment prediction, and multiple evaluation metrics into one practical system. The same approach can be adapted to analyze both product and movie reviews and provide quick insights from large amounts of text data.</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255641" y="1131124"/>
            <a:ext cx="4916128" cy="5078313"/>
          </a:xfrm>
          <a:prstGeom prst="rect">
            <a:avLst/>
          </a:prstGeom>
          <a:noFill/>
        </p:spPr>
        <p:txBody>
          <a:bodyPr wrap="square" rtlCol="0">
            <a:spAutoFit/>
          </a:bodyPr>
          <a:lstStyle/>
          <a:p>
            <a:pPr lvl="0"/>
            <a:endParaRPr lang="en-IN" b="1" dirty="0"/>
          </a:p>
          <a:p>
            <a:pPr lvl="0"/>
            <a:r>
              <a:rPr lang="en-IN" b="1" dirty="0"/>
              <a:t>Technical Feasibility:</a:t>
            </a:r>
            <a:r>
              <a:rPr lang="en-IN" dirty="0"/>
              <a:t> Can be developed using Python, NLP, TF-IDF, and Machine Learning libraries. </a:t>
            </a:r>
          </a:p>
          <a:p>
            <a:pPr lvl="0"/>
            <a:endParaRPr lang="en-IN" dirty="0"/>
          </a:p>
          <a:p>
            <a:pPr lvl="0"/>
            <a:r>
              <a:rPr lang="en-IN" b="1" dirty="0"/>
              <a:t>Data Feasibility:</a:t>
            </a:r>
            <a:r>
              <a:rPr lang="en-IN" dirty="0"/>
              <a:t> Product and movie review datasets are easily available for training and testing. </a:t>
            </a:r>
          </a:p>
          <a:p>
            <a:pPr lvl="0"/>
            <a:endParaRPr lang="en-IN" dirty="0"/>
          </a:p>
          <a:p>
            <a:pPr lvl="0"/>
            <a:r>
              <a:rPr lang="en-IN" b="1" dirty="0"/>
              <a:t>Economic Feasibility:</a:t>
            </a:r>
            <a:r>
              <a:rPr lang="en-IN" dirty="0"/>
              <a:t> Uses free and open-source tools, so development cost is low. </a:t>
            </a:r>
          </a:p>
          <a:p>
            <a:pPr lvl="0"/>
            <a:endParaRPr lang="en-IN" dirty="0"/>
          </a:p>
          <a:p>
            <a:pPr lvl="0"/>
            <a:r>
              <a:rPr lang="en-IN" b="1" dirty="0"/>
              <a:t>Operational Feasibility:</a:t>
            </a:r>
            <a:r>
              <a:rPr lang="en-IN" dirty="0"/>
              <a:t> Simple system that can automatically classify reviews and display sentiment results.</a:t>
            </a:r>
          </a:p>
          <a:p>
            <a:pPr algn="just"/>
            <a:br>
              <a:rPr lang="en-IN" dirty="0"/>
            </a:br>
            <a:endParaRPr lang="en-IN" dirty="0"/>
          </a:p>
          <a:p>
            <a:endParaRPr lang="en-US" b="1" dirty="0">
              <a:solidFill>
                <a:srgbClr val="FF0000"/>
              </a:solidFill>
            </a:endParaRP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7" name="Table 6">
            <a:extLst>
              <a:ext uri="{FF2B5EF4-FFF2-40B4-BE49-F238E27FC236}">
                <a16:creationId xmlns:a16="http://schemas.microsoft.com/office/drawing/2014/main" id="{C50AAE25-3565-DBB8-9158-DCFC839C2C57}"/>
              </a:ext>
            </a:extLst>
          </p:cNvPr>
          <p:cNvGraphicFramePr>
            <a:graphicFrameLocks noGrp="1"/>
          </p:cNvGraphicFramePr>
          <p:nvPr>
            <p:extLst>
              <p:ext uri="{D42A27DB-BD31-4B8C-83A1-F6EECF244321}">
                <p14:modId xmlns:p14="http://schemas.microsoft.com/office/powerpoint/2010/main" val="1889842748"/>
              </p:ext>
            </p:extLst>
          </p:nvPr>
        </p:nvGraphicFramePr>
        <p:xfrm>
          <a:off x="5034116" y="1258945"/>
          <a:ext cx="7157883" cy="5560825"/>
        </p:xfrm>
        <a:graphic>
          <a:graphicData uri="http://schemas.openxmlformats.org/drawingml/2006/table">
            <a:tbl>
              <a:tblPr>
                <a:tableStyleId>{5C22544A-7EE6-4342-B048-85BDC9FD1C3A}</a:tableStyleId>
              </a:tblPr>
              <a:tblGrid>
                <a:gridCol w="2385961">
                  <a:extLst>
                    <a:ext uri="{9D8B030D-6E8A-4147-A177-3AD203B41FA5}">
                      <a16:colId xmlns:a16="http://schemas.microsoft.com/office/drawing/2014/main" val="2088707007"/>
                    </a:ext>
                  </a:extLst>
                </a:gridCol>
                <a:gridCol w="2385961">
                  <a:extLst>
                    <a:ext uri="{9D8B030D-6E8A-4147-A177-3AD203B41FA5}">
                      <a16:colId xmlns:a16="http://schemas.microsoft.com/office/drawing/2014/main" val="920727445"/>
                    </a:ext>
                  </a:extLst>
                </a:gridCol>
                <a:gridCol w="2385961">
                  <a:extLst>
                    <a:ext uri="{9D8B030D-6E8A-4147-A177-3AD203B41FA5}">
                      <a16:colId xmlns:a16="http://schemas.microsoft.com/office/drawing/2014/main" val="2395603769"/>
                    </a:ext>
                  </a:extLst>
                </a:gridCol>
              </a:tblGrid>
              <a:tr h="311659">
                <a:tc>
                  <a:txBody>
                    <a:bodyPr/>
                    <a:lstStyle/>
                    <a:p>
                      <a:pPr>
                        <a:buNone/>
                      </a:pPr>
                      <a:r>
                        <a:rPr lang="en-IN" sz="1600"/>
                        <a:t>Phase</a:t>
                      </a:r>
                    </a:p>
                  </a:txBody>
                  <a:tcPr marL="80580" marR="80580" marT="40290" marB="40290" anchor="ctr"/>
                </a:tc>
                <a:tc>
                  <a:txBody>
                    <a:bodyPr/>
                    <a:lstStyle/>
                    <a:p>
                      <a:pPr>
                        <a:buNone/>
                      </a:pPr>
                      <a:r>
                        <a:rPr lang="en-IN" sz="1600" dirty="0"/>
                        <a:t>Activity</a:t>
                      </a:r>
                    </a:p>
                  </a:txBody>
                  <a:tcPr marL="80580" marR="80580" marT="40290" marB="40290" anchor="ctr"/>
                </a:tc>
                <a:tc>
                  <a:txBody>
                    <a:bodyPr/>
                    <a:lstStyle/>
                    <a:p>
                      <a:pPr>
                        <a:buNone/>
                      </a:pPr>
                      <a:r>
                        <a:rPr lang="en-IN" sz="1600"/>
                        <a:t>Main Work</a:t>
                      </a:r>
                    </a:p>
                  </a:txBody>
                  <a:tcPr marL="80580" marR="80580" marT="40290" marB="40290" anchor="ctr"/>
                </a:tc>
                <a:extLst>
                  <a:ext uri="{0D108BD9-81ED-4DB2-BD59-A6C34878D82A}">
                    <a16:rowId xmlns:a16="http://schemas.microsoft.com/office/drawing/2014/main" val="2728900689"/>
                  </a:ext>
                </a:extLst>
              </a:tr>
              <a:tr h="1014405">
                <a:tc>
                  <a:txBody>
                    <a:bodyPr/>
                    <a:lstStyle/>
                    <a:p>
                      <a:pPr>
                        <a:buNone/>
                      </a:pPr>
                      <a:r>
                        <a:rPr lang="en-IN" sz="1600"/>
                        <a:t>Phase 1</a:t>
                      </a:r>
                    </a:p>
                  </a:txBody>
                  <a:tcPr marL="80580" marR="80580" marT="40290" marB="40290" anchor="ctr"/>
                </a:tc>
                <a:tc>
                  <a:txBody>
                    <a:bodyPr/>
                    <a:lstStyle/>
                    <a:p>
                      <a:pPr>
                        <a:buNone/>
                      </a:pPr>
                      <a:r>
                        <a:rPr lang="en-IN" sz="1600"/>
                        <a:t>Problem &amp; Literature Survey</a:t>
                      </a:r>
                    </a:p>
                  </a:txBody>
                  <a:tcPr marL="80580" marR="80580" marT="40290" marB="40290" anchor="ctr"/>
                </a:tc>
                <a:tc>
                  <a:txBody>
                    <a:bodyPr/>
                    <a:lstStyle/>
                    <a:p>
                      <a:pPr>
                        <a:buNone/>
                      </a:pPr>
                      <a:r>
                        <a:rPr lang="en-IN" sz="1600"/>
                        <a:t>Identify the problem, objectives, existing methods, and research gap.</a:t>
                      </a:r>
                    </a:p>
                  </a:txBody>
                  <a:tcPr marL="80580" marR="80580" marT="40290" marB="40290" anchor="ctr"/>
                </a:tc>
                <a:extLst>
                  <a:ext uri="{0D108BD9-81ED-4DB2-BD59-A6C34878D82A}">
                    <a16:rowId xmlns:a16="http://schemas.microsoft.com/office/drawing/2014/main" val="1899655261"/>
                  </a:ext>
                </a:extLst>
              </a:tr>
              <a:tr h="857129">
                <a:tc>
                  <a:txBody>
                    <a:bodyPr/>
                    <a:lstStyle/>
                    <a:p>
                      <a:pPr>
                        <a:buNone/>
                      </a:pPr>
                      <a:r>
                        <a:rPr lang="en-IN" sz="1600" dirty="0"/>
                        <a:t>Phase 2</a:t>
                      </a:r>
                    </a:p>
                  </a:txBody>
                  <a:tcPr marL="80580" marR="80580" marT="40290" marB="40290" anchor="ctr"/>
                </a:tc>
                <a:tc>
                  <a:txBody>
                    <a:bodyPr/>
                    <a:lstStyle/>
                    <a:p>
                      <a:pPr>
                        <a:buNone/>
                      </a:pPr>
                      <a:r>
                        <a:rPr lang="en-IN" sz="1600"/>
                        <a:t>Data Collection &amp; Preprocessing</a:t>
                      </a:r>
                    </a:p>
                  </a:txBody>
                  <a:tcPr marL="80580" marR="80580" marT="40290" marB="40290" anchor="ctr"/>
                </a:tc>
                <a:tc>
                  <a:txBody>
                    <a:bodyPr/>
                    <a:lstStyle/>
                    <a:p>
                      <a:pPr>
                        <a:buNone/>
                      </a:pPr>
                      <a:r>
                        <a:rPr lang="en-IN" sz="1600"/>
                        <a:t>Collect review datasets and clean, tokenize, and prepare the text.</a:t>
                      </a:r>
                    </a:p>
                  </a:txBody>
                  <a:tcPr marL="80580" marR="80580" marT="40290" marB="40290" anchor="ctr"/>
                </a:tc>
                <a:extLst>
                  <a:ext uri="{0D108BD9-81ED-4DB2-BD59-A6C34878D82A}">
                    <a16:rowId xmlns:a16="http://schemas.microsoft.com/office/drawing/2014/main" val="2313185891"/>
                  </a:ext>
                </a:extLst>
              </a:tr>
              <a:tr h="1014405">
                <a:tc>
                  <a:txBody>
                    <a:bodyPr/>
                    <a:lstStyle/>
                    <a:p>
                      <a:pPr>
                        <a:buNone/>
                      </a:pPr>
                      <a:r>
                        <a:rPr lang="en-IN" sz="1600" dirty="0"/>
                        <a:t>Phase 3</a:t>
                      </a:r>
                    </a:p>
                  </a:txBody>
                  <a:tcPr marL="80580" marR="80580" marT="40290" marB="40290" anchor="ctr"/>
                </a:tc>
                <a:tc>
                  <a:txBody>
                    <a:bodyPr/>
                    <a:lstStyle/>
                    <a:p>
                      <a:pPr>
                        <a:buNone/>
                      </a:pPr>
                      <a:r>
                        <a:rPr lang="en-IN" sz="1600"/>
                        <a:t>Feature Extraction &amp; Model Development</a:t>
                      </a:r>
                    </a:p>
                  </a:txBody>
                  <a:tcPr marL="80580" marR="80580" marT="40290" marB="40290" anchor="ctr"/>
                </a:tc>
                <a:tc>
                  <a:txBody>
                    <a:bodyPr/>
                    <a:lstStyle/>
                    <a:p>
                      <a:pPr>
                        <a:buNone/>
                      </a:pPr>
                      <a:r>
                        <a:rPr lang="en-IN" sz="1600"/>
                        <a:t>Apply TF-IDF and train Naïve Bayes and Logistic Regression models.</a:t>
                      </a:r>
                    </a:p>
                  </a:txBody>
                  <a:tcPr marL="80580" marR="80580" marT="40290" marB="40290" anchor="ctr"/>
                </a:tc>
                <a:extLst>
                  <a:ext uri="{0D108BD9-81ED-4DB2-BD59-A6C34878D82A}">
                    <a16:rowId xmlns:a16="http://schemas.microsoft.com/office/drawing/2014/main" val="138582877"/>
                  </a:ext>
                </a:extLst>
              </a:tr>
              <a:tr h="1055060">
                <a:tc>
                  <a:txBody>
                    <a:bodyPr/>
                    <a:lstStyle/>
                    <a:p>
                      <a:pPr>
                        <a:buNone/>
                      </a:pPr>
                      <a:r>
                        <a:rPr lang="en-IN" sz="1600"/>
                        <a:t>Phase 4</a:t>
                      </a:r>
                    </a:p>
                  </a:txBody>
                  <a:tcPr marL="80580" marR="80580" marT="40290" marB="40290" anchor="ctr"/>
                </a:tc>
                <a:tc>
                  <a:txBody>
                    <a:bodyPr/>
                    <a:lstStyle/>
                    <a:p>
                      <a:pPr>
                        <a:buNone/>
                      </a:pPr>
                      <a:r>
                        <a:rPr lang="en-IN" sz="1600"/>
                        <a:t>Evaluation &amp; Visualization</a:t>
                      </a:r>
                    </a:p>
                  </a:txBody>
                  <a:tcPr marL="80580" marR="80580" marT="40290" marB="40290" anchor="ctr"/>
                </a:tc>
                <a:tc>
                  <a:txBody>
                    <a:bodyPr/>
                    <a:lstStyle/>
                    <a:p>
                      <a:pPr>
                        <a:buNone/>
                      </a:pPr>
                      <a:r>
                        <a:rPr lang="en-IN" sz="1600"/>
                        <a:t>Evaluate models using Accuracy, Precision, Recall, and F1-Score and visualize results.</a:t>
                      </a:r>
                    </a:p>
                  </a:txBody>
                  <a:tcPr marL="80580" marR="80580" marT="40290" marB="40290" anchor="ctr"/>
                </a:tc>
                <a:extLst>
                  <a:ext uri="{0D108BD9-81ED-4DB2-BD59-A6C34878D82A}">
                    <a16:rowId xmlns:a16="http://schemas.microsoft.com/office/drawing/2014/main" val="2629539449"/>
                  </a:ext>
                </a:extLst>
              </a:tr>
              <a:tr h="1252991">
                <a:tc>
                  <a:txBody>
                    <a:bodyPr/>
                    <a:lstStyle/>
                    <a:p>
                      <a:pPr>
                        <a:buNone/>
                      </a:pPr>
                      <a:r>
                        <a:rPr lang="en-IN" sz="1600"/>
                        <a:t>Phase 5</a:t>
                      </a:r>
                    </a:p>
                  </a:txBody>
                  <a:tcPr marL="80580" marR="80580" marT="40290" marB="40290" anchor="ctr"/>
                </a:tc>
                <a:tc>
                  <a:txBody>
                    <a:bodyPr/>
                    <a:lstStyle/>
                    <a:p>
                      <a:pPr>
                        <a:buNone/>
                      </a:pPr>
                      <a:r>
                        <a:rPr lang="en-IN" sz="1600"/>
                        <a:t>Testing &amp; Documentation</a:t>
                      </a:r>
                    </a:p>
                  </a:txBody>
                  <a:tcPr marL="80580" marR="80580" marT="40290" marB="40290" anchor="ctr"/>
                </a:tc>
                <a:tc>
                  <a:txBody>
                    <a:bodyPr/>
                    <a:lstStyle/>
                    <a:p>
                      <a:pPr>
                        <a:buNone/>
                      </a:pPr>
                      <a:r>
                        <a:rPr lang="en-IN" sz="1600" dirty="0"/>
                        <a:t>Test the system with new reviews, improve the model, and prepare the report and presentation.</a:t>
                      </a:r>
                    </a:p>
                  </a:txBody>
                  <a:tcPr marL="80580" marR="80580" marT="40290" marB="40290" anchor="ctr"/>
                </a:tc>
                <a:extLst>
                  <a:ext uri="{0D108BD9-81ED-4DB2-BD59-A6C34878D82A}">
                    <a16:rowId xmlns:a16="http://schemas.microsoft.com/office/drawing/2014/main" val="2256638742"/>
                  </a:ext>
                </a:extLst>
              </a:tr>
            </a:tbl>
          </a:graphicData>
        </a:graphic>
      </p:graphicFrame>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CA9D0-B535-B5FD-39AE-5718B02A0E4E}"/>
              </a:ext>
            </a:extLst>
          </p:cNvPr>
          <p:cNvSpPr>
            <a:spLocks noGrp="1"/>
          </p:cNvSpPr>
          <p:nvPr>
            <p:ph type="title"/>
          </p:nvPr>
        </p:nvSpPr>
        <p:spPr>
          <a:xfrm>
            <a:off x="639097" y="1"/>
            <a:ext cx="10714703" cy="609600"/>
          </a:xfrm>
        </p:spPr>
        <p:txBody>
          <a:bodyPr>
            <a:normAutofit/>
          </a:bodyPr>
          <a:lstStyle/>
          <a:p>
            <a:r>
              <a:rPr lang="en-IN" sz="2400" dirty="0"/>
              <a:t>Work flow:</a:t>
            </a:r>
          </a:p>
        </p:txBody>
      </p:sp>
      <p:pic>
        <p:nvPicPr>
          <p:cNvPr id="7" name="Picture 6">
            <a:extLst>
              <a:ext uri="{FF2B5EF4-FFF2-40B4-BE49-F238E27FC236}">
                <a16:creationId xmlns:a16="http://schemas.microsoft.com/office/drawing/2014/main" id="{552C3132-20E2-77DC-9CB4-3E87D7382D32}"/>
              </a:ext>
            </a:extLst>
          </p:cNvPr>
          <p:cNvPicPr>
            <a:picLocks noChangeAspect="1"/>
          </p:cNvPicPr>
          <p:nvPr/>
        </p:nvPicPr>
        <p:blipFill>
          <a:blip r:embed="rId2"/>
          <a:stretch>
            <a:fillRect/>
          </a:stretch>
        </p:blipFill>
        <p:spPr>
          <a:xfrm>
            <a:off x="10249380" y="0"/>
            <a:ext cx="1942620" cy="622550"/>
          </a:xfrm>
          <a:prstGeom prst="rect">
            <a:avLst/>
          </a:prstGeom>
        </p:spPr>
      </p:pic>
      <p:sp>
        <p:nvSpPr>
          <p:cNvPr id="9" name="Content Placeholder 8">
            <a:extLst>
              <a:ext uri="{FF2B5EF4-FFF2-40B4-BE49-F238E27FC236}">
                <a16:creationId xmlns:a16="http://schemas.microsoft.com/office/drawing/2014/main" id="{D4817812-3B7A-FC50-5518-795C474C9B64}"/>
              </a:ext>
            </a:extLst>
          </p:cNvPr>
          <p:cNvSpPr>
            <a:spLocks noGrp="1"/>
          </p:cNvSpPr>
          <p:nvPr>
            <p:ph idx="1"/>
          </p:nvPr>
        </p:nvSpPr>
        <p:spPr/>
        <p:txBody>
          <a:bodyPr/>
          <a:lstStyle/>
          <a:p>
            <a:endParaRPr lang="en-IN" dirty="0"/>
          </a:p>
        </p:txBody>
      </p:sp>
      <p:pic>
        <p:nvPicPr>
          <p:cNvPr id="11" name="Picture 10">
            <a:extLst>
              <a:ext uri="{FF2B5EF4-FFF2-40B4-BE49-F238E27FC236}">
                <a16:creationId xmlns:a16="http://schemas.microsoft.com/office/drawing/2014/main" id="{222631C5-1263-16E1-EAB9-C7F72FE7AD86}"/>
              </a:ext>
            </a:extLst>
          </p:cNvPr>
          <p:cNvPicPr>
            <a:picLocks noChangeAspect="1"/>
          </p:cNvPicPr>
          <p:nvPr/>
        </p:nvPicPr>
        <p:blipFill>
          <a:blip r:embed="rId3"/>
          <a:stretch>
            <a:fillRect/>
          </a:stretch>
        </p:blipFill>
        <p:spPr>
          <a:xfrm>
            <a:off x="639097" y="622550"/>
            <a:ext cx="11061290" cy="6235449"/>
          </a:xfrm>
          <a:prstGeom prst="rect">
            <a:avLst/>
          </a:prstGeom>
        </p:spPr>
      </p:pic>
    </p:spTree>
    <p:extLst>
      <p:ext uri="{BB962C8B-B14F-4D97-AF65-F5344CB8AC3E}">
        <p14:creationId xmlns:p14="http://schemas.microsoft.com/office/powerpoint/2010/main" val="3961608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169</TotalTime>
  <Words>1111</Words>
  <Application>Microsoft Office PowerPoint</Application>
  <PresentationFormat>Widescreen</PresentationFormat>
  <Paragraphs>170</Paragraphs>
  <Slides>9</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Work 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Mani Maha Lakshmi</cp:lastModifiedBy>
  <cp:revision>38</cp:revision>
  <dcterms:created xsi:type="dcterms:W3CDTF">2026-08-08T06:33:56Z</dcterms:created>
  <dcterms:modified xsi:type="dcterms:W3CDTF">2026-09-17T05:55:39Z</dcterms:modified>
</cp:coreProperties>
</file>